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7315200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RoPE模块注册机制重构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BCCDD"/>
                </a:solidFill>
              </a:defRPr>
            </a:pPr>
            <a:r>
              <a:t>MindIE-LLM Clean Code 优秀代码推荐  |  PR #285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9AABB"/>
                </a:solidFill>
              </a:defRPr>
            </a:pPr>
            <a:r>
              <a:t>zhaokerui  |  MindIE-LLM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为什么重构？—— DeepSeek V4 带来的新挑战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为什么重构？—— DeepSeek V4 带来的新挑战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●  原有设计：整个模型所有层共享同一 RoPE 实例</a:t>
            </a:r>
          </a:p>
          <a:p>
            <a:pPr lvl="1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每层使用相同的 cos / sin table</a:t>
            </a:r>
          </a:p>
          <a:p>
            <a:pPr lvl="1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初始化时创建一次，全局复用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●  DeepSeek V4 新特性：不同层使用不同 Attention 机制</a:t>
            </a:r>
          </a:p>
          <a:p>
            <a:pPr lvl="1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稠密层 → 标准 Attention</a:t>
            </a:r>
          </a:p>
          <a:p>
            <a:pPr lvl="1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MoE 层 → SFA (Sparse Flash Attention)</a:t>
            </a:r>
          </a:p>
          <a:p>
            <a:pPr lvl="1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推理层 → MLA (Multi-head Latent Attention)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●  核心矛盾</a:t>
            </a:r>
          </a:p>
          <a:p>
            <a:pPr lvl="1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不同 Attention 需要不同的 cos/sin → 必须每层独立创建 RoPE</a:t>
            </a:r>
          </a:p>
          <a:p>
            <a:pPr lvl="1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相同配置的层应共享实例 → 需要缓存机制，避免重复计算</a:t>
            </a:r>
          </a:p>
          <a:p>
            <a:pPr lvl="1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原有 if-elif 分支结构无法灵活适配不断增长的新模型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重构前的根本缺陷：违反开闭原则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重构前的根本缺陷：违反开闭原则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重构前：所有模型共享一个 position_embedding 脚本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◆ 全部模型使用同一个文件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position_rotary_embedding.py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包含所有模型的 RoPE 创建逻辑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◆ 新模型接入 → 必须修改这个文件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if rope_type == "default": ...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elif rope_type == "yarn": ...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elif rope_type == "new_model": ...   ← 每次加分支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◆ 违反开闭原则 (OCP)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对修改开放：每个新模型都要改公共脚本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对扩展封闭：没有提供模型自定义的扩展点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◆ 风险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修改公共脚本可能影响已有模型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多人并行开发时易冲突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无法独立测试单个模型的 RoPE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09728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重构后：每个模型自己实现 RoPE + 按需复用框架缓存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◆ 模型独立实现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每个模型在自身目录定义 RoPE 子类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deepseek_v3_yarn_scaling_rope.py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minmax_rope.py、qwen2_rope.py ... （各自文件）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◆ 通过注册复用框架能力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@register_rope_type("deepseek_yarn")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@cached_rope_factory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一行注册即可获得框架的 cos/sin 缓存能力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◆ 符合开闭原则 (OCP)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对扩展开放：新模型加新文件即可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对修改封闭：框架代码零修改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◆ 自由度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不想用框架缓存？不注册即可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想自定义缓存逻辑？自己实现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注册 = 自愿加入框架缓存机制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重构前 vs 重构后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重构前的问题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◆ RopeScaling 配置耦合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rope_type 写死在 validator 枚举中，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新增类型需修改框架代码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◆ 工厂逻辑集中硬编码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position_rotary_embedding.py 中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if-elif 分支判断 rope_type，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扩展性差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◆ cos/sin 耦合在 AttentionMetadata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attention 后端直接依赖 RoPE 内部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数据结构，关注点不分离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◆ 无缓存，无法按需共享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要么全层共享一个实例，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要么每层重复创建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重构后的优势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◆ BaseRopeScaling + 模型特化子类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每个模型定义自己的配置类，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框架代码零修改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◆ 注册机制 + 工厂模式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@register_rope_type 装饰器一行注册，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自动发现，无硬编码分支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◆ cos/sin 解耦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通过 RoPE 实例 buffer 管理，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作为独立参数传入 attention 后端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◆ 自动缓存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cached_rope_factory 按参数自动缓存，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相同配置共享，不同配置隔离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RoPE 类继承层次</a:t>
            </a:r>
          </a:p>
        </p:txBody>
      </p:sp>
      <p:pic>
        <p:nvPicPr>
          <p:cNvPr id="4" name="Picture 3" descr="ppt_diagram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39032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get_rope — Factory + Registry + Cache</a:t>
            </a:r>
          </a:p>
        </p:txBody>
      </p:sp>
      <p:pic>
        <p:nvPicPr>
          <p:cNvPr id="4" name="Picture 3" descr="ppt_diagram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43974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运行时序图 — DeepSeek V3.2 推理流程</a:t>
            </a:r>
          </a:p>
        </p:txBody>
      </p:sp>
      <p:pic>
        <p:nvPicPr>
          <p:cNvPr id="4" name="Picture 3" descr="ppt_diagram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66787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设计模式组合运用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设计模式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应用位置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解决的问题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注册表模式 (Registry)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registry.py · _ROPE_REGISTRY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类型标识→工厂函数映射，支持运行时动态注册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工厂方法 (Factory Method)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__init__.py · get_rope()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根据 rope_type 动态选择实现，调用者无需知道类名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模板方法 (Template)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base.py · _compute_cos_sin_cache()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基类定义算法骨架，子类重写特定步骤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装饰器 (Decorator)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registry.py · @cached_rope_factory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透明地为 factory 函数增加缓存能力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外观模式 (Facade)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__init__.py · get_rope()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统一入口，封装 registry 查询+factory 调度+参数处理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核心实现：Registry 注册 + 缓存装饰器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841248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5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urier New"/>
              </a:defRPr>
            </a:pPr>
            <a:r>
              <a:t>def register_rope_type(rope_type: str) -&gt; Callable: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urier New"/>
              </a:defRPr>
            </a:pPr>
            <a:r>
              <a:t>    def decorator(factory_func):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urier New"/>
              </a:defRPr>
            </a:pPr>
            <a:r>
              <a:t>        if rope_type in _ROPE_REGISTRY: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urier New"/>
              </a:defRPr>
            </a:pPr>
            <a:r>
              <a:t>            raise ValueError(f"'{rope_type}' already registered")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urier New"/>
              </a:defRPr>
            </a:pPr>
            <a:r>
              <a:t>        _ROPE_REGISTRY[rope_type] = factory_func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urier New"/>
              </a:defRPr>
            </a:pPr>
            <a:r>
              <a:t>        return factory_func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urier New"/>
              </a:defRPr>
            </a:pPr>
            <a:r>
              <a:t>    return decorator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urier New"/>
              </a:defRPr>
            </a:pPr>
            <a:r>
              <a:t>@register_rope_type("deepseek_yarn")      # ← 一行注册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urier New"/>
              </a:defRPr>
            </a:pPr>
            <a:r>
              <a:t>@cached_rope_factory                      # ← 一行加缓存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urier New"/>
              </a:defRPr>
            </a:pPr>
            <a:r>
              <a:t>def _create_deepseek_scaling_rope(head_size, rotary_dim, ..., rope_config):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urier New"/>
              </a:defRPr>
            </a:pPr>
            <a:r>
              <a:t>    return DeepseekV3YarnRotaryEmbedding(rotary_dim, ...)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urier New"/>
              </a:defRPr>
            </a:pPr>
            <a:r>
              <a:t># 新增模型：仅需 ①实现子类  ②写factory函数+两个装饰器</a:t>
            </a:r>
          </a:p>
          <a:p>
            <a:pPr>
              <a:spcAft>
                <a:spcPts val="100"/>
              </a:spcAft>
              <a:defRPr sz="900">
                <a:solidFill>
                  <a:srgbClr val="CDD6F4"/>
                </a:solidFill>
                <a:latin typeface="Courier New"/>
              </a:defRPr>
            </a:pPr>
            <a:r>
              <a:t># 零处已有代码修改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核心实现：cos/sin 与 Attention 后端的解耦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1188720"/>
            <a:ext cx="429768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23444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750">
                <a:solidFill>
                  <a:srgbClr val="CDD6F4"/>
                </a:solidFill>
                <a:latin typeface="Courier New"/>
              </a:defRPr>
            </a:pPr>
            <a:r>
              <a:t># Before — cos/sin 耦合在 Metadata</a:t>
            </a:r>
          </a:p>
          <a:p>
            <a:pPr>
              <a:spcAft>
                <a:spcPts val="100"/>
              </a:spcAft>
              <a:defRPr sz="750">
                <a:solidFill>
                  <a:srgbClr val="CDD6F4"/>
                </a:solidFill>
                <a:latin typeface="Courier New"/>
              </a:defRPr>
            </a:pPr>
            <a:r>
              <a:t>class SfaMetadata(AttentionMetadata):</a:t>
            </a:r>
          </a:p>
          <a:p>
            <a:pPr>
              <a:spcAft>
                <a:spcPts val="100"/>
              </a:spcAft>
              <a:defRPr sz="750">
                <a:solidFill>
                  <a:srgbClr val="CDD6F4"/>
                </a:solidFill>
                <a:latin typeface="Courier New"/>
              </a:defRPr>
            </a:pPr>
            <a:r>
              <a:t>    cos_table: Tensor</a:t>
            </a:r>
          </a:p>
          <a:p>
            <a:pPr>
              <a:spcAft>
                <a:spcPts val="100"/>
              </a:spcAft>
              <a:defRPr sz="750">
                <a:solidFill>
                  <a:srgbClr val="CDD6F4"/>
                </a:solidFill>
                <a:latin typeface="Courier New"/>
              </a:defRPr>
            </a:pPr>
            <a:r>
              <a:t>    sin_table: Tensor</a:t>
            </a:r>
          </a:p>
          <a:p>
            <a:pPr>
              <a:spcAft>
                <a:spcPts val="100"/>
              </a:spcAft>
              <a:defRPr sz="750">
                <a:solidFill>
                  <a:srgbClr val="CDD6F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750">
                <a:solidFill>
                  <a:srgbClr val="CDD6F4"/>
                </a:solidFill>
                <a:latin typeface="Courier New"/>
              </a:defRPr>
            </a:pPr>
            <a:r>
              <a:t>    @staticmethod</a:t>
            </a:r>
          </a:p>
          <a:p>
            <a:pPr>
              <a:spcAft>
                <a:spcPts val="100"/>
              </a:spcAft>
              <a:defRPr sz="750">
                <a:solidFill>
                  <a:srgbClr val="CDD6F4"/>
                </a:solidFill>
                <a:latin typeface="Courier New"/>
              </a:defRPr>
            </a:pPr>
            <a:r>
              <a:t>    def from_model_input(model_inputs,</a:t>
            </a:r>
          </a:p>
          <a:p>
            <a:pPr>
              <a:spcAft>
                <a:spcPts val="100"/>
              </a:spcAft>
              <a:defRPr sz="750">
                <a:solidFill>
                  <a:srgbClr val="CDD6F4"/>
                </a:solidFill>
                <a:latin typeface="Courier New"/>
              </a:defRPr>
            </a:pPr>
            <a:r>
              <a:t>            cos_table, sin_table, mask, ...):</a:t>
            </a:r>
          </a:p>
          <a:p>
            <a:pPr>
              <a:spcAft>
                <a:spcPts val="100"/>
              </a:spcAft>
              <a:defRPr sz="750">
                <a:solidFill>
                  <a:srgbClr val="CDD6F4"/>
                </a:solidFill>
                <a:latin typeface="Courier New"/>
              </a:defRPr>
            </a:pPr>
            <a:r>
              <a:t>        return SfaMetadata(</a:t>
            </a:r>
          </a:p>
          <a:p>
            <a:pPr>
              <a:spcAft>
                <a:spcPts val="100"/>
              </a:spcAft>
              <a:defRPr sz="750">
                <a:solidFill>
                  <a:srgbClr val="CDD6F4"/>
                </a:solidFill>
                <a:latin typeface="Courier New"/>
              </a:defRPr>
            </a:pPr>
            <a:r>
              <a:t>            cos_table=cos_table,</a:t>
            </a:r>
          </a:p>
          <a:p>
            <a:pPr>
              <a:spcAft>
                <a:spcPts val="100"/>
              </a:spcAft>
              <a:defRPr sz="750">
                <a:solidFill>
                  <a:srgbClr val="CDD6F4"/>
                </a:solidFill>
                <a:latin typeface="Courier New"/>
              </a:defRPr>
            </a:pPr>
            <a:r>
              <a:t>            sin_table=sin_table, ...)</a:t>
            </a:r>
          </a:p>
          <a:p>
            <a:pPr>
              <a:spcAft>
                <a:spcPts val="100"/>
              </a:spcAft>
              <a:defRPr sz="750">
                <a:solidFill>
                  <a:srgbClr val="CDD6F4"/>
                </a:solidFill>
                <a:latin typeface="Courier New"/>
              </a:defRPr>
            </a:pPr>
            <a:r>
              <a:t># Attention backend 直接依赖 RoPE 内部结构</a:t>
            </a:r>
          </a:p>
          <a:p>
            <a:pPr>
              <a:spcAft>
                <a:spcPts val="100"/>
              </a:spcAft>
              <a:defRPr sz="750">
                <a:solidFill>
                  <a:srgbClr val="CDD6F4"/>
                </a:solidFill>
                <a:latin typeface="Courier New"/>
              </a:defRPr>
            </a:pPr>
            <a:r>
              <a:t>q_pe = npu_interleave_rope(</a:t>
            </a:r>
          </a:p>
          <a:p>
            <a:pPr>
              <a:spcAft>
                <a:spcPts val="100"/>
              </a:spcAft>
              <a:defRPr sz="750">
                <a:solidFill>
                  <a:srgbClr val="CDD6F4"/>
                </a:solidFill>
                <a:latin typeface="Courier New"/>
              </a:defRPr>
            </a:pPr>
            <a:r>
              <a:t>    q_pe,</a:t>
            </a:r>
          </a:p>
          <a:p>
            <a:pPr>
              <a:spcAft>
                <a:spcPts val="100"/>
              </a:spcAft>
              <a:defRPr sz="750">
                <a:solidFill>
                  <a:srgbClr val="CDD6F4"/>
                </a:solidFill>
                <a:latin typeface="Courier New"/>
              </a:defRPr>
            </a:pPr>
            <a:r>
              <a:t>    attn_metadata.cos_table,</a:t>
            </a:r>
          </a:p>
          <a:p>
            <a:pPr>
              <a:spcAft>
                <a:spcPts val="100"/>
              </a:spcAft>
              <a:defRPr sz="750">
                <a:solidFill>
                  <a:srgbClr val="CDD6F4"/>
                </a:solidFill>
                <a:latin typeface="Courier New"/>
              </a:defRPr>
            </a:pPr>
            <a:r>
              <a:t>    attn_metadata.sin_table)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188720"/>
            <a:ext cx="4297680" cy="5029200"/>
          </a:xfrm>
          <a:prstGeom prst="roundRect">
            <a:avLst/>
          </a:prstGeom>
          <a:solidFill>
            <a:srgbClr val="1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23444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750">
                <a:solidFill>
                  <a:srgbClr val="A6E2A0"/>
                </a:solidFill>
                <a:latin typeface="Courier New"/>
              </a:defRPr>
            </a:pPr>
            <a:r>
              <a:t># After — cos/sin 作为独立参数</a:t>
            </a:r>
          </a:p>
          <a:p>
            <a:pPr>
              <a:spcAft>
                <a:spcPts val="100"/>
              </a:spcAft>
              <a:defRPr sz="750">
                <a:solidFill>
                  <a:srgbClr val="A6E2A0"/>
                </a:solidFill>
                <a:latin typeface="Courier New"/>
              </a:defRPr>
            </a:pPr>
            <a:r>
              <a:t>class SfaMetadata(AttentionMetadata):</a:t>
            </a:r>
          </a:p>
          <a:p>
            <a:pPr>
              <a:spcAft>
                <a:spcPts val="100"/>
              </a:spcAft>
              <a:defRPr sz="750">
                <a:solidFill>
                  <a:srgbClr val="A6E2A0"/>
                </a:solidFill>
                <a:latin typeface="Courier New"/>
              </a:defRPr>
            </a:pPr>
            <a:r>
              <a:t>    # cos/sin 已移除，回归纯元信息角色</a:t>
            </a:r>
          </a:p>
          <a:p>
            <a:pPr>
              <a:spcAft>
                <a:spcPts val="100"/>
              </a:spcAft>
              <a:defRPr sz="750">
                <a:solidFill>
                  <a:srgbClr val="A6E2A0"/>
                </a:solidFill>
                <a:latin typeface="Courier New"/>
              </a:defRPr>
            </a:pPr>
            <a:r>
              <a:t>    seq_lens, slot_mapping, block_tables, ...</a:t>
            </a:r>
          </a:p>
          <a:p>
            <a:pPr>
              <a:spcAft>
                <a:spcPts val="100"/>
              </a:spcAft>
              <a:defRPr sz="750">
                <a:solidFill>
                  <a:srgbClr val="A6E2A0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750">
                <a:solidFill>
                  <a:srgbClr val="A6E2A0"/>
                </a:solidFill>
                <a:latin typeface="Courier New"/>
              </a:defRPr>
            </a:pPr>
            <a:r>
              <a:t>class SfaBackendImpl:</a:t>
            </a:r>
          </a:p>
          <a:p>
            <a:pPr>
              <a:spcAft>
                <a:spcPts val="100"/>
              </a:spcAft>
              <a:defRPr sz="750">
                <a:solidFill>
                  <a:srgbClr val="A6E2A0"/>
                </a:solidFill>
                <a:latin typeface="Courier New"/>
              </a:defRPr>
            </a:pPr>
            <a:r>
              <a:t>    def decode_qk_rope(self, hidden_state, ...,</a:t>
            </a:r>
          </a:p>
          <a:p>
            <a:pPr>
              <a:spcAft>
                <a:spcPts val="100"/>
              </a:spcAft>
              <a:defRPr sz="750">
                <a:solidFill>
                  <a:srgbClr val="A6E2A0"/>
                </a:solidFill>
                <a:latin typeface="Courier New"/>
              </a:defRPr>
            </a:pPr>
            <a:r>
              <a:t>            attn_metadata, cos, sin):  # ← 独立参数</a:t>
            </a:r>
          </a:p>
          <a:p>
            <a:pPr>
              <a:spcAft>
                <a:spcPts val="100"/>
              </a:spcAft>
              <a:defRPr sz="750">
                <a:solidFill>
                  <a:srgbClr val="A6E2A0"/>
                </a:solidFill>
                <a:latin typeface="Courier New"/>
              </a:defRPr>
            </a:pPr>
            <a:r>
              <a:t>        q_pe = npu_interleave_rope(q_pe, cos, sin)</a:t>
            </a:r>
          </a:p>
          <a:p>
            <a:pPr>
              <a:spcAft>
                <a:spcPts val="100"/>
              </a:spcAft>
              <a:defRPr sz="750">
                <a:solidFill>
                  <a:srgbClr val="A6E2A0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750">
                <a:solidFill>
                  <a:srgbClr val="A6E2A0"/>
                </a:solidFill>
                <a:latin typeface="Courier New"/>
              </a:defRPr>
            </a:pPr>
            <a:r>
              <a:t># RoPE 实例自身管理 cos/sin buffer</a:t>
            </a:r>
          </a:p>
          <a:p>
            <a:pPr>
              <a:spcAft>
                <a:spcPts val="100"/>
              </a:spcAft>
              <a:defRPr sz="750">
                <a:solidFill>
                  <a:srgbClr val="A6E2A0"/>
                </a:solidFill>
                <a:latin typeface="Courier New"/>
              </a:defRPr>
            </a:pPr>
            <a:r>
              <a:t>rope_emb.set_cos_sin_indexed_cache(positions)</a:t>
            </a:r>
          </a:p>
          <a:p>
            <a:pPr>
              <a:spcAft>
                <a:spcPts val="100"/>
              </a:spcAft>
              <a:defRPr sz="750">
                <a:solidFill>
                  <a:srgbClr val="A6E2A0"/>
                </a:solidFill>
                <a:latin typeface="Courier New"/>
              </a:defRPr>
            </a:pPr>
            <a:r>
              <a:t># attention 后端不再关心 cos/sin 来源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1005840"/>
            <a:ext cx="4297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6666"/>
                </a:solidFill>
              </a:defRPr>
            </a:pPr>
            <a:r>
              <a:t>✗ 重构前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005840"/>
            <a:ext cx="4297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FF66"/>
                </a:solidFill>
              </a:defRPr>
            </a:pPr>
            <a:r>
              <a:t>✓ 重构后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结果一：支撑 MindIE-LLM 多模型 RoPE 计算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结果一：支撑 MindIE-LLM 多模型 RoPE 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●  已适配模型</a:t>
            </a:r>
          </a:p>
          <a:p>
            <a:pPr lvl="1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DeepSeek V3 — deepseek_yarn 类型，mscale + mscale_all_dim 双因子缩放</a:t>
            </a:r>
          </a:p>
          <a:p>
            <a:pPr lvl="1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Qwen2 — yarn 类型，标准 YaRN 上下文扩展</a:t>
            </a:r>
          </a:p>
          <a:p>
            <a:pPr lvl="1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Qwen3 — default 类型，标准 RoPE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●  缓存效率</a:t>
            </a:r>
          </a:p>
          <a:p>
            <a:pPr lvl="1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DeepSeek V3: 61 层 → 仅创建 1 个 RoPE 实例（所有层配置相同）</a:t>
            </a:r>
          </a:p>
          <a:p>
            <a:pPr lvl="1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DeepSeek V4: N 种 Attention → 仅创建 M 个实例（M = 不同配置数）</a:t>
            </a:r>
          </a:p>
          <a:p>
            <a:pPr lvl="1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与原有"全局共享一个 RoPE"的实现效率完全一致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●  新增模型零侵入</a:t>
            </a:r>
          </a:p>
          <a:p>
            <a:pPr lvl="1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实现子类 → 注册 factory → 完成</a:t>
            </a:r>
          </a:p>
          <a:p>
            <a:pPr lvl="1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不需要修改 registry.py、__init__.py、attention backend 任何已有代码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结果二：MiniMax 模型适配 — AI 时代的高效实践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结果二：MiniMax 模型适配 — AI 时代的高效实践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适配案例：MiniMax-M1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◆ 背景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MiniMax-M1 使用自定义 RoPE 实现，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需要从原生 transformers 代码迁移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到 MindIE-LLM 框架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◆ 流程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① 从 transformers 源码提取 RoPE 逻辑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② 继承 YarnScalingRotaryEmbedding 基类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③ 重写 _compute_cos_sin_cache()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④ 编写 factory 函数 + 双装饰器注册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⑤ 在 config 中定义 MiniMaxRopeScaling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◆ 结果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AI 辅助开发，总耗时仅 1 小时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仅遇到 1 个运行时错误（dtype 不匹配）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修复后即通过全部测试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09728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为什么能这么快？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◆ 清晰的扩展点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基类已定义好模板方法，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只需重写差异逻辑，不需要理解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整个框架的 RoPE 调用链路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◆ 声明式注册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装饰器即文档，AI 能直接从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已有注册代码中学习模式并生成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◆ 独立的测试边界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可以单独测试自定义 RoPE，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不需要启动完整推理服务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◆ AI 时代的代码设计哲学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好的设计 = AI 能理解的设计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清晰的接口 + 一致的命名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+ 明确的扩展点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→ AI 能快速生成可靠代码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本设计的注册机制正是例证：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  MiniMax 适配仅 1 小时即完成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AI 时代的代码设计：好设计让 AI 写出好代码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AI 时代的代码设计：好设计让 AI 写出好代码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●  我们的设计实践验证了一个观点：</a:t>
            </a:r>
          </a:p>
          <a:p>
            <a:pPr lvl="1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在 AI 辅助编程时代，好的代码设计能让 AI 更快速地理解、学习并生成正确代码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●  为什么本设计对 AI 友好？</a:t>
            </a:r>
          </a:p>
          <a:p>
            <a:pPr lvl="1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① 模块职责单一：registry 只管注册，base 只管计算，factory 只管创建</a:t>
            </a:r>
          </a:p>
          <a:p>
            <a:pPr lvl="2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    AI 不需要理解全局才能写对局部代码</a:t>
            </a:r>
          </a:p>
          <a:p>
            <a:pPr lvl="1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② 装饰器声明式：@register_rope_type + @cached_rope_factory</a:t>
            </a:r>
          </a:p>
          <a:p>
            <a:pPr lvl="2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    意图直接表达，AI 从上下文可以学习并复现这个模式</a:t>
            </a:r>
          </a:p>
          <a:p>
            <a:pPr lvl="1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③ 继承层次清晰：Base → YaRN → DeepSeekV3YaRN</a:t>
            </a:r>
          </a:p>
          <a:p>
            <a:pPr lvl="2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    每一层只增加一个变化维度，AI 知道该覆盖哪个方法</a:t>
            </a:r>
          </a:p>
          <a:p>
            <a:pPr lvl="1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④ 命名符合社区惯例：register / factory / cache / get_xxx</a:t>
            </a:r>
          </a:p>
          <a:p>
            <a:pPr lvl="2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    AI 训练数据中大量出现这些模式，理解成本极低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●  MiniMax 1 小时适配 = 这个设计哲学的实证</a:t>
            </a:r>
          </a:p>
          <a:p>
            <a:pPr lvl="1"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      从 transformers 原生代码 → 框架集成，仅遇到 1 个运行时错误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CCDDEE"/>
                </a:solidFill>
              </a:defRPr>
            </a:pPr>
            <a:r>
              <a:t>  机制性框架设计 — 注册 + 缓存 + 工厂，对扩展开放、对修改关闭</a:t>
            </a:r>
          </a:p>
          <a:p>
            <a:pPr>
              <a:spcAft>
                <a:spcPts val="1800"/>
              </a:spcAft>
              <a:defRPr sz="1800">
                <a:solidFill>
                  <a:srgbClr val="CCDDEE"/>
                </a:solidFill>
              </a:defRPr>
            </a:pPr>
            <a:r>
              <a:t>  cos/sin 解耦 — Attention 后端回归纯粹的元信息角色</a:t>
            </a:r>
          </a:p>
          <a:p>
            <a:pPr>
              <a:spcAft>
                <a:spcPts val="1800"/>
              </a:spcAft>
              <a:defRPr sz="1800">
                <a:solidFill>
                  <a:srgbClr val="CCDDEE"/>
                </a:solidFill>
              </a:defRPr>
            </a:pPr>
            <a:r>
              <a:t>  多模型支撑 — DeepSeek V3/V4、Qwen2/3、MiniMax 均已适配</a:t>
            </a:r>
          </a:p>
          <a:p>
            <a:pPr>
              <a:spcAft>
                <a:spcPts val="1800"/>
              </a:spcAft>
              <a:defRPr sz="1800">
                <a:solidFill>
                  <a:srgbClr val="CCDDEE"/>
                </a:solidFill>
              </a:defRPr>
            </a:pPr>
            <a:r>
              <a:t>  AI 友好 — MiniMax 适配仅 1 小时，1 个运行时错误</a:t>
            </a:r>
          </a:p>
          <a:p>
            <a:pPr>
              <a:spcAft>
                <a:spcPts val="1800"/>
              </a:spcAft>
              <a:defRPr sz="1800">
                <a:solidFill>
                  <a:srgbClr val="CCDDEE"/>
                </a:solidFill>
              </a:defRPr>
            </a:pPr>
            <a:r>
              <a:t>  可推广 — 注册机制可复用到 Attention Backend、MoE Router 等模块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9AABB"/>
                </a:solidFill>
              </a:defRPr>
            </a:pPr>
            <a:r>
              <a:t>谢谢  |  zhaokerui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